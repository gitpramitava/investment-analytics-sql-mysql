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0" u="none" strike="noStrike" baseline="0" dirty="0"/>
              <a:t>Top 10 Clients by Net Investment (AUM)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2356039475544327E-2"/>
          <c:y val="0.15261899353926914"/>
          <c:w val="0.93604047736220475"/>
          <c:h val="0.6348506007104699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 AUM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,,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Rohit Chatterjee</c:v>
                </c:pt>
                <c:pt idx="1">
                  <c:v>Aditya Verma</c:v>
                </c:pt>
                <c:pt idx="2">
                  <c:v>Priya Nair</c:v>
                </c:pt>
                <c:pt idx="3">
                  <c:v>Amit Verma</c:v>
                </c:pt>
                <c:pt idx="4">
                  <c:v>Anjali Das</c:v>
                </c:pt>
                <c:pt idx="5">
                  <c:v>Priya Gupta</c:v>
                </c:pt>
                <c:pt idx="6">
                  <c:v>Neha Verma</c:v>
                </c:pt>
                <c:pt idx="7">
                  <c:v>Arjun Sinha</c:v>
                </c:pt>
                <c:pt idx="8">
                  <c:v>Pooja Pillai</c:v>
                </c:pt>
                <c:pt idx="9">
                  <c:v>Priya Mehta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3945860.93</c:v>
                </c:pt>
                <c:pt idx="1">
                  <c:v>3711258.86</c:v>
                </c:pt>
                <c:pt idx="2">
                  <c:v>3523460.49</c:v>
                </c:pt>
                <c:pt idx="3">
                  <c:v>3379216.99</c:v>
                </c:pt>
                <c:pt idx="4">
                  <c:v>4012805.84</c:v>
                </c:pt>
                <c:pt idx="5">
                  <c:v>5397064.5800000001</c:v>
                </c:pt>
                <c:pt idx="6">
                  <c:v>3262603.2</c:v>
                </c:pt>
                <c:pt idx="7">
                  <c:v>3268388</c:v>
                </c:pt>
                <c:pt idx="8">
                  <c:v>3416662.66</c:v>
                </c:pt>
                <c:pt idx="9">
                  <c:v>3324099.22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2B-4277-A422-1229E7602C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311734831"/>
        <c:axId val="311735311"/>
      </c:barChart>
      <c:catAx>
        <c:axId val="31173483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1735311"/>
        <c:crosses val="autoZero"/>
        <c:auto val="1"/>
        <c:lblAlgn val="ctr"/>
        <c:lblOffset val="100"/>
        <c:noMultiLvlLbl val="0"/>
      </c:catAx>
      <c:valAx>
        <c:axId val="3117353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17348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Amount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,,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2"/>
                <c:pt idx="0">
                  <c:v>Buy</c:v>
                </c:pt>
                <c:pt idx="1">
                  <c:v>Sell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253512882.49000001</c:v>
                </c:pt>
                <c:pt idx="1">
                  <c:v>255494210.63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0D-46C2-AFBC-0EEB7EA21D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2"/>
                <c:pt idx="0">
                  <c:v>Buy</c:v>
                </c:pt>
                <c:pt idx="1">
                  <c:v>Sell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F10D-46C2-AFBC-0EEB7EA21D6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2"/>
                <c:pt idx="0">
                  <c:v>Buy</c:v>
                </c:pt>
                <c:pt idx="1">
                  <c:v>Sell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F10D-46C2-AFBC-0EEB7EA21D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27"/>
        <c:axId val="1505517615"/>
        <c:axId val="509047392"/>
      </c:barChart>
      <c:catAx>
        <c:axId val="15055176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9047392"/>
        <c:crosses val="autoZero"/>
        <c:auto val="1"/>
        <c:lblAlgn val="ctr"/>
        <c:lblOffset val="100"/>
        <c:noMultiLvlLbl val="0"/>
      </c:catAx>
      <c:valAx>
        <c:axId val="509047392"/>
        <c:scaling>
          <c:orientation val="minMax"/>
          <c:max val="256000000"/>
          <c:min val="253000000"/>
        </c:scaling>
        <c:delete val="1"/>
        <c:axPos val="l"/>
        <c:numFmt formatCode="General" sourceLinked="1"/>
        <c:majorTickMark val="none"/>
        <c:minorTickMark val="none"/>
        <c:tickLblPos val="nextTo"/>
        <c:crossAx val="15055176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Sheet1!$A$2:$A$51</c:f>
              <c:numCache>
                <c:formatCode>mmm\-yy</c:formatCode>
                <c:ptCount val="50"/>
                <c:pt idx="0">
                  <c:v>43466</c:v>
                </c:pt>
                <c:pt idx="1">
                  <c:v>43497</c:v>
                </c:pt>
                <c:pt idx="2">
                  <c:v>43525</c:v>
                </c:pt>
                <c:pt idx="3">
                  <c:v>43556</c:v>
                </c:pt>
                <c:pt idx="4">
                  <c:v>43586</c:v>
                </c:pt>
                <c:pt idx="5">
                  <c:v>43617</c:v>
                </c:pt>
                <c:pt idx="6">
                  <c:v>43647</c:v>
                </c:pt>
                <c:pt idx="7">
                  <c:v>43678</c:v>
                </c:pt>
                <c:pt idx="8">
                  <c:v>43709</c:v>
                </c:pt>
                <c:pt idx="9">
                  <c:v>43739</c:v>
                </c:pt>
                <c:pt idx="10">
                  <c:v>43770</c:v>
                </c:pt>
                <c:pt idx="11">
                  <c:v>43800</c:v>
                </c:pt>
                <c:pt idx="12">
                  <c:v>43831</c:v>
                </c:pt>
                <c:pt idx="13">
                  <c:v>43862</c:v>
                </c:pt>
                <c:pt idx="14">
                  <c:v>43891</c:v>
                </c:pt>
                <c:pt idx="15">
                  <c:v>43922</c:v>
                </c:pt>
                <c:pt idx="16">
                  <c:v>43952</c:v>
                </c:pt>
                <c:pt idx="17">
                  <c:v>43983</c:v>
                </c:pt>
                <c:pt idx="18">
                  <c:v>44013</c:v>
                </c:pt>
                <c:pt idx="19">
                  <c:v>44044</c:v>
                </c:pt>
                <c:pt idx="20">
                  <c:v>44075</c:v>
                </c:pt>
                <c:pt idx="21">
                  <c:v>44105</c:v>
                </c:pt>
                <c:pt idx="22">
                  <c:v>44136</c:v>
                </c:pt>
                <c:pt idx="23">
                  <c:v>44166</c:v>
                </c:pt>
                <c:pt idx="24">
                  <c:v>44197</c:v>
                </c:pt>
                <c:pt idx="25">
                  <c:v>44228</c:v>
                </c:pt>
                <c:pt idx="26">
                  <c:v>44256</c:v>
                </c:pt>
                <c:pt idx="27">
                  <c:v>44287</c:v>
                </c:pt>
                <c:pt idx="28">
                  <c:v>44317</c:v>
                </c:pt>
                <c:pt idx="29">
                  <c:v>44348</c:v>
                </c:pt>
                <c:pt idx="30">
                  <c:v>44378</c:v>
                </c:pt>
                <c:pt idx="31">
                  <c:v>44409</c:v>
                </c:pt>
                <c:pt idx="32">
                  <c:v>44440</c:v>
                </c:pt>
                <c:pt idx="33">
                  <c:v>44470</c:v>
                </c:pt>
                <c:pt idx="34">
                  <c:v>44501</c:v>
                </c:pt>
                <c:pt idx="35">
                  <c:v>44531</c:v>
                </c:pt>
                <c:pt idx="36">
                  <c:v>44562</c:v>
                </c:pt>
                <c:pt idx="37">
                  <c:v>44593</c:v>
                </c:pt>
                <c:pt idx="38">
                  <c:v>44621</c:v>
                </c:pt>
                <c:pt idx="39">
                  <c:v>44652</c:v>
                </c:pt>
                <c:pt idx="40">
                  <c:v>44682</c:v>
                </c:pt>
                <c:pt idx="41">
                  <c:v>44713</c:v>
                </c:pt>
                <c:pt idx="42">
                  <c:v>44743</c:v>
                </c:pt>
                <c:pt idx="43">
                  <c:v>44774</c:v>
                </c:pt>
                <c:pt idx="44">
                  <c:v>44805</c:v>
                </c:pt>
                <c:pt idx="45">
                  <c:v>44835</c:v>
                </c:pt>
                <c:pt idx="46">
                  <c:v>44866</c:v>
                </c:pt>
                <c:pt idx="47">
                  <c:v>44896</c:v>
                </c:pt>
              </c:numCache>
            </c:num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50730946.780000001</c:v>
                </c:pt>
                <c:pt idx="1">
                  <c:v>46087586.590000004</c:v>
                </c:pt>
                <c:pt idx="2">
                  <c:v>49787620.57</c:v>
                </c:pt>
                <c:pt idx="3">
                  <c:v>54622845.670000002</c:v>
                </c:pt>
                <c:pt idx="4">
                  <c:v>53117965.960000001</c:v>
                </c:pt>
                <c:pt idx="5">
                  <c:v>58152433.299999997</c:v>
                </c:pt>
                <c:pt idx="6">
                  <c:v>49035557.350000001</c:v>
                </c:pt>
                <c:pt idx="7">
                  <c:v>52140267.240000002</c:v>
                </c:pt>
                <c:pt idx="8">
                  <c:v>44345694.149999999</c:v>
                </c:pt>
                <c:pt idx="9">
                  <c:v>55417019.740000002</c:v>
                </c:pt>
                <c:pt idx="10">
                  <c:v>50583921.490000002</c:v>
                </c:pt>
                <c:pt idx="11">
                  <c:v>50255089.520000003</c:v>
                </c:pt>
                <c:pt idx="12">
                  <c:v>52227602.350000001</c:v>
                </c:pt>
                <c:pt idx="13">
                  <c:v>44314867.759999998</c:v>
                </c:pt>
                <c:pt idx="14">
                  <c:v>46482997.090000004</c:v>
                </c:pt>
                <c:pt idx="15">
                  <c:v>52290074.950000003</c:v>
                </c:pt>
                <c:pt idx="16">
                  <c:v>57357668.159999996</c:v>
                </c:pt>
                <c:pt idx="17">
                  <c:v>44578432.109999999</c:v>
                </c:pt>
                <c:pt idx="18">
                  <c:v>49545094.829999998</c:v>
                </c:pt>
                <c:pt idx="19">
                  <c:v>59627855.210000001</c:v>
                </c:pt>
                <c:pt idx="20">
                  <c:v>47094135.229999997</c:v>
                </c:pt>
                <c:pt idx="21">
                  <c:v>53107492.729999997</c:v>
                </c:pt>
                <c:pt idx="22">
                  <c:v>55277673.060000002</c:v>
                </c:pt>
                <c:pt idx="23">
                  <c:v>47110576.609999999</c:v>
                </c:pt>
                <c:pt idx="24">
                  <c:v>47930319.280000001</c:v>
                </c:pt>
                <c:pt idx="25">
                  <c:v>46679657.729999997</c:v>
                </c:pt>
                <c:pt idx="26">
                  <c:v>53228941.350000001</c:v>
                </c:pt>
                <c:pt idx="27">
                  <c:v>46983632.920000002</c:v>
                </c:pt>
                <c:pt idx="28">
                  <c:v>48512926.539999999</c:v>
                </c:pt>
                <c:pt idx="29">
                  <c:v>49941410.18</c:v>
                </c:pt>
                <c:pt idx="30">
                  <c:v>52912526.119999997</c:v>
                </c:pt>
                <c:pt idx="31">
                  <c:v>51726045.659999996</c:v>
                </c:pt>
                <c:pt idx="32">
                  <c:v>53849344.359999999</c:v>
                </c:pt>
                <c:pt idx="33">
                  <c:v>53575351.43</c:v>
                </c:pt>
                <c:pt idx="34">
                  <c:v>59363718.960000001</c:v>
                </c:pt>
                <c:pt idx="35">
                  <c:v>50138982.270000003</c:v>
                </c:pt>
                <c:pt idx="36">
                  <c:v>54822241.380000003</c:v>
                </c:pt>
                <c:pt idx="37">
                  <c:v>49168074.710000001</c:v>
                </c:pt>
                <c:pt idx="38">
                  <c:v>55323273.649999999</c:v>
                </c:pt>
                <c:pt idx="39">
                  <c:v>52666821.299999997</c:v>
                </c:pt>
                <c:pt idx="40">
                  <c:v>50539753.469999999</c:v>
                </c:pt>
                <c:pt idx="41">
                  <c:v>47965316.560000002</c:v>
                </c:pt>
                <c:pt idx="42">
                  <c:v>57844333.729999997</c:v>
                </c:pt>
                <c:pt idx="43">
                  <c:v>51934246.560000002</c:v>
                </c:pt>
                <c:pt idx="44">
                  <c:v>52805351.57</c:v>
                </c:pt>
                <c:pt idx="45">
                  <c:v>54296102.75</c:v>
                </c:pt>
                <c:pt idx="46">
                  <c:v>53469779.259999998</c:v>
                </c:pt>
                <c:pt idx="47">
                  <c:v>51034727.579999998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13-49AA-8E05-14B6EF767E4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Sell</c:v>
                </c:pt>
              </c:strCache>
            </c:strRef>
          </c:tx>
          <c:spPr>
            <a:ln w="28575" cap="rnd">
              <a:solidFill>
                <a:schemeClr val="accent1">
                  <a:lumMod val="20000"/>
                  <a:lumOff val="8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1">
                    <a:lumMod val="20000"/>
                    <a:lumOff val="80000"/>
                  </a:schemeClr>
                </a:solidFill>
              </a:ln>
              <a:effectLst/>
            </c:spPr>
          </c:marker>
          <c:cat>
            <c:numRef>
              <c:f>Sheet1!$A$2:$A$51</c:f>
              <c:numCache>
                <c:formatCode>mmm\-yy</c:formatCode>
                <c:ptCount val="50"/>
                <c:pt idx="0">
                  <c:v>43466</c:v>
                </c:pt>
                <c:pt idx="1">
                  <c:v>43497</c:v>
                </c:pt>
                <c:pt idx="2">
                  <c:v>43525</c:v>
                </c:pt>
                <c:pt idx="3">
                  <c:v>43556</c:v>
                </c:pt>
                <c:pt idx="4">
                  <c:v>43586</c:v>
                </c:pt>
                <c:pt idx="5">
                  <c:v>43617</c:v>
                </c:pt>
                <c:pt idx="6">
                  <c:v>43647</c:v>
                </c:pt>
                <c:pt idx="7">
                  <c:v>43678</c:v>
                </c:pt>
                <c:pt idx="8">
                  <c:v>43709</c:v>
                </c:pt>
                <c:pt idx="9">
                  <c:v>43739</c:v>
                </c:pt>
                <c:pt idx="10">
                  <c:v>43770</c:v>
                </c:pt>
                <c:pt idx="11">
                  <c:v>43800</c:v>
                </c:pt>
                <c:pt idx="12">
                  <c:v>43831</c:v>
                </c:pt>
                <c:pt idx="13">
                  <c:v>43862</c:v>
                </c:pt>
                <c:pt idx="14">
                  <c:v>43891</c:v>
                </c:pt>
                <c:pt idx="15">
                  <c:v>43922</c:v>
                </c:pt>
                <c:pt idx="16">
                  <c:v>43952</c:v>
                </c:pt>
                <c:pt idx="17">
                  <c:v>43983</c:v>
                </c:pt>
                <c:pt idx="18">
                  <c:v>44013</c:v>
                </c:pt>
                <c:pt idx="19">
                  <c:v>44044</c:v>
                </c:pt>
                <c:pt idx="20">
                  <c:v>44075</c:v>
                </c:pt>
                <c:pt idx="21">
                  <c:v>44105</c:v>
                </c:pt>
                <c:pt idx="22">
                  <c:v>44136</c:v>
                </c:pt>
                <c:pt idx="23">
                  <c:v>44166</c:v>
                </c:pt>
                <c:pt idx="24">
                  <c:v>44197</c:v>
                </c:pt>
                <c:pt idx="25">
                  <c:v>44228</c:v>
                </c:pt>
                <c:pt idx="26">
                  <c:v>44256</c:v>
                </c:pt>
                <c:pt idx="27">
                  <c:v>44287</c:v>
                </c:pt>
                <c:pt idx="28">
                  <c:v>44317</c:v>
                </c:pt>
                <c:pt idx="29">
                  <c:v>44348</c:v>
                </c:pt>
                <c:pt idx="30">
                  <c:v>44378</c:v>
                </c:pt>
                <c:pt idx="31">
                  <c:v>44409</c:v>
                </c:pt>
                <c:pt idx="32">
                  <c:v>44440</c:v>
                </c:pt>
                <c:pt idx="33">
                  <c:v>44470</c:v>
                </c:pt>
                <c:pt idx="34">
                  <c:v>44501</c:v>
                </c:pt>
                <c:pt idx="35">
                  <c:v>44531</c:v>
                </c:pt>
                <c:pt idx="36">
                  <c:v>44562</c:v>
                </c:pt>
                <c:pt idx="37">
                  <c:v>44593</c:v>
                </c:pt>
                <c:pt idx="38">
                  <c:v>44621</c:v>
                </c:pt>
                <c:pt idx="39">
                  <c:v>44652</c:v>
                </c:pt>
                <c:pt idx="40">
                  <c:v>44682</c:v>
                </c:pt>
                <c:pt idx="41">
                  <c:v>44713</c:v>
                </c:pt>
                <c:pt idx="42">
                  <c:v>44743</c:v>
                </c:pt>
                <c:pt idx="43">
                  <c:v>44774</c:v>
                </c:pt>
                <c:pt idx="44">
                  <c:v>44805</c:v>
                </c:pt>
                <c:pt idx="45">
                  <c:v>44835</c:v>
                </c:pt>
                <c:pt idx="46">
                  <c:v>44866</c:v>
                </c:pt>
                <c:pt idx="47">
                  <c:v>44896</c:v>
                </c:pt>
              </c:numCache>
            </c:numRef>
          </c:cat>
          <c:val>
            <c:numRef>
              <c:f>Sheet1!$C$2:$C$51</c:f>
              <c:numCache>
                <c:formatCode>General</c:formatCode>
                <c:ptCount val="50"/>
                <c:pt idx="0">
                  <c:v>53166360.859999999</c:v>
                </c:pt>
                <c:pt idx="1">
                  <c:v>56396431.359999999</c:v>
                </c:pt>
                <c:pt idx="2">
                  <c:v>46770018.5</c:v>
                </c:pt>
                <c:pt idx="3">
                  <c:v>50319350.539999999</c:v>
                </c:pt>
                <c:pt idx="4">
                  <c:v>52846645.859999999</c:v>
                </c:pt>
                <c:pt idx="5">
                  <c:v>44687459.840000004</c:v>
                </c:pt>
                <c:pt idx="6">
                  <c:v>51572626.590000004</c:v>
                </c:pt>
                <c:pt idx="7">
                  <c:v>51623155.700000003</c:v>
                </c:pt>
                <c:pt idx="8">
                  <c:v>55453272.609999999</c:v>
                </c:pt>
                <c:pt idx="9">
                  <c:v>56343227.149999999</c:v>
                </c:pt>
                <c:pt idx="10">
                  <c:v>48169986.759999998</c:v>
                </c:pt>
                <c:pt idx="11">
                  <c:v>47786989.32</c:v>
                </c:pt>
                <c:pt idx="12">
                  <c:v>50466258.270000003</c:v>
                </c:pt>
                <c:pt idx="13">
                  <c:v>48150072.259999998</c:v>
                </c:pt>
                <c:pt idx="14">
                  <c:v>51986707.82</c:v>
                </c:pt>
                <c:pt idx="15">
                  <c:v>50813561.530000001</c:v>
                </c:pt>
                <c:pt idx="16">
                  <c:v>48488185.119999997</c:v>
                </c:pt>
                <c:pt idx="17">
                  <c:v>50634511.850000001</c:v>
                </c:pt>
                <c:pt idx="18">
                  <c:v>56000625.560000002</c:v>
                </c:pt>
                <c:pt idx="19">
                  <c:v>43799152.450000003</c:v>
                </c:pt>
                <c:pt idx="20">
                  <c:v>51621173.549999997</c:v>
                </c:pt>
                <c:pt idx="21">
                  <c:v>52912013.43</c:v>
                </c:pt>
                <c:pt idx="22">
                  <c:v>46870947.950000003</c:v>
                </c:pt>
                <c:pt idx="23">
                  <c:v>46715243.219999999</c:v>
                </c:pt>
                <c:pt idx="24">
                  <c:v>60567792.280000001</c:v>
                </c:pt>
                <c:pt idx="25">
                  <c:v>45653496.210000001</c:v>
                </c:pt>
                <c:pt idx="26">
                  <c:v>55492463.479999997</c:v>
                </c:pt>
                <c:pt idx="27">
                  <c:v>52926598.899999999</c:v>
                </c:pt>
                <c:pt idx="28">
                  <c:v>55247769</c:v>
                </c:pt>
                <c:pt idx="29">
                  <c:v>53753545.189999998</c:v>
                </c:pt>
                <c:pt idx="30">
                  <c:v>53850359.539999999</c:v>
                </c:pt>
                <c:pt idx="31">
                  <c:v>49976479.030000001</c:v>
                </c:pt>
                <c:pt idx="32">
                  <c:v>44528554.310000002</c:v>
                </c:pt>
                <c:pt idx="33">
                  <c:v>56560814.130000003</c:v>
                </c:pt>
                <c:pt idx="34">
                  <c:v>44256311.189999998</c:v>
                </c:pt>
                <c:pt idx="35">
                  <c:v>56278549.579999998</c:v>
                </c:pt>
                <c:pt idx="36">
                  <c:v>55695629.299999997</c:v>
                </c:pt>
                <c:pt idx="37">
                  <c:v>37595732.850000001</c:v>
                </c:pt>
                <c:pt idx="38">
                  <c:v>50678129.57</c:v>
                </c:pt>
                <c:pt idx="39">
                  <c:v>49353086.310000002</c:v>
                </c:pt>
                <c:pt idx="40">
                  <c:v>50759416.140000001</c:v>
                </c:pt>
                <c:pt idx="41">
                  <c:v>50661276.079999998</c:v>
                </c:pt>
                <c:pt idx="42">
                  <c:v>60316403.710000001</c:v>
                </c:pt>
                <c:pt idx="43">
                  <c:v>58380098.520000003</c:v>
                </c:pt>
                <c:pt idx="44">
                  <c:v>52504691.149999999</c:v>
                </c:pt>
                <c:pt idx="45">
                  <c:v>52073043.759999998</c:v>
                </c:pt>
                <c:pt idx="46">
                  <c:v>62134041.509999998</c:v>
                </c:pt>
                <c:pt idx="47">
                  <c:v>56590826.409999996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13-49AA-8E05-14B6EF767E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09081888"/>
        <c:axId val="509082368"/>
      </c:lineChart>
      <c:dateAx>
        <c:axId val="509081888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9082368"/>
        <c:crosses val="autoZero"/>
        <c:auto val="1"/>
        <c:lblOffset val="100"/>
        <c:baseTimeUnit val="months"/>
        <c:majorUnit val="3"/>
        <c:majorTimeUnit val="months"/>
      </c:dateAx>
      <c:valAx>
        <c:axId val="509082368"/>
        <c:scaling>
          <c:orientation val="minMax"/>
        </c:scaling>
        <c:delete val="0"/>
        <c:axPos val="l"/>
        <c:numFmt formatCode="0.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90818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0" u="none" strike="noStrike" baseline="0" dirty="0"/>
              <a:t>Top 10 Clients by Net Investment (AUM)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Client_AUM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81-4D08-A747-F1133AEE0C22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4E81-4D08-A747-F1133AEE0C22}"/>
              </c:ext>
            </c:extLst>
          </c:dPt>
          <c:dPt>
            <c:idx val="2"/>
            <c:invertIfNegative val="0"/>
            <c:bubble3D val="0"/>
            <c:spPr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81-4D08-A747-F1133AEE0C22}"/>
              </c:ext>
            </c:extLst>
          </c:dPt>
          <c:cat>
            <c:strRef>
              <c:f>Sheet1!$A$2:$A$11</c:f>
              <c:strCache>
                <c:ptCount val="10"/>
                <c:pt idx="0">
                  <c:v>Priya Gupta</c:v>
                </c:pt>
                <c:pt idx="1">
                  <c:v>Anjali Das</c:v>
                </c:pt>
                <c:pt idx="2">
                  <c:v>Rohit Chatterjee</c:v>
                </c:pt>
                <c:pt idx="3">
                  <c:v>Aditya Verma</c:v>
                </c:pt>
                <c:pt idx="4">
                  <c:v>Priya Nair</c:v>
                </c:pt>
                <c:pt idx="5">
                  <c:v>Pooja Pillai</c:v>
                </c:pt>
                <c:pt idx="6">
                  <c:v>Amit Verma</c:v>
                </c:pt>
                <c:pt idx="7">
                  <c:v>Priya Mehta</c:v>
                </c:pt>
                <c:pt idx="8">
                  <c:v>Arjun Sinha</c:v>
                </c:pt>
                <c:pt idx="9">
                  <c:v>Neha Verma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5397064.5800000001</c:v>
                </c:pt>
                <c:pt idx="1">
                  <c:v>4012805.84</c:v>
                </c:pt>
                <c:pt idx="2">
                  <c:v>3945860.93</c:v>
                </c:pt>
                <c:pt idx="3">
                  <c:v>3711258.86</c:v>
                </c:pt>
                <c:pt idx="4">
                  <c:v>3523460.49</c:v>
                </c:pt>
                <c:pt idx="5">
                  <c:v>3416662.66</c:v>
                </c:pt>
                <c:pt idx="6">
                  <c:v>3379216.99</c:v>
                </c:pt>
                <c:pt idx="7">
                  <c:v>3324099.22</c:v>
                </c:pt>
                <c:pt idx="8">
                  <c:v>3268388</c:v>
                </c:pt>
                <c:pt idx="9">
                  <c:v>3262603.2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81-4D08-A747-F1133AEE0C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21725408"/>
        <c:axId val="1121725888"/>
      </c:barChart>
      <c:catAx>
        <c:axId val="1121725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725888"/>
        <c:crosses val="autoZero"/>
        <c:auto val="1"/>
        <c:lblAlgn val="ctr"/>
        <c:lblOffset val="100"/>
        <c:noMultiLvlLbl val="0"/>
      </c:catAx>
      <c:valAx>
        <c:axId val="1121725888"/>
        <c:scaling>
          <c:orientation val="minMax"/>
        </c:scaling>
        <c:delete val="0"/>
        <c:axPos val="l"/>
        <c:numFmt formatCode="0.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725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IN"/>
              <a:t>Monthly Net Investment Trend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Net Investment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2019-01</c:v>
                </c:pt>
                <c:pt idx="1">
                  <c:v>2019-02</c:v>
                </c:pt>
                <c:pt idx="2">
                  <c:v>2019-03</c:v>
                </c:pt>
                <c:pt idx="3">
                  <c:v>2019-04</c:v>
                </c:pt>
                <c:pt idx="4">
                  <c:v>2019-05</c:v>
                </c:pt>
                <c:pt idx="5">
                  <c:v>2019-06</c:v>
                </c:pt>
                <c:pt idx="6">
                  <c:v>2019-07</c:v>
                </c:pt>
                <c:pt idx="7">
                  <c:v>2019-08</c:v>
                </c:pt>
                <c:pt idx="8">
                  <c:v>2019-09</c:v>
                </c:pt>
                <c:pt idx="9">
                  <c:v>2019-10</c:v>
                </c:pt>
                <c:pt idx="10">
                  <c:v>2019-11</c:v>
                </c:pt>
                <c:pt idx="11">
                  <c:v>2019-12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-2435414.08</c:v>
                </c:pt>
                <c:pt idx="1">
                  <c:v>-10308844.77</c:v>
                </c:pt>
                <c:pt idx="2">
                  <c:v>3017602.07</c:v>
                </c:pt>
                <c:pt idx="3">
                  <c:v>4303495.13</c:v>
                </c:pt>
                <c:pt idx="4">
                  <c:v>271320.09999999998</c:v>
                </c:pt>
                <c:pt idx="5">
                  <c:v>13464973.460000001</c:v>
                </c:pt>
                <c:pt idx="6">
                  <c:v>-2537069.2400000002</c:v>
                </c:pt>
                <c:pt idx="7">
                  <c:v>517111.54</c:v>
                </c:pt>
                <c:pt idx="8">
                  <c:v>-11107578.460000001</c:v>
                </c:pt>
                <c:pt idx="9">
                  <c:v>-926207.41</c:v>
                </c:pt>
                <c:pt idx="10">
                  <c:v>2413934.73</c:v>
                </c:pt>
                <c:pt idx="11">
                  <c:v>2468100.2000000002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CE-49E3-8DE9-D519971CED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320493184"/>
        <c:axId val="1320493664"/>
      </c:barChart>
      <c:catAx>
        <c:axId val="13204931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0493664"/>
        <c:crosses val="autoZero"/>
        <c:auto val="0"/>
        <c:lblAlgn val="ctr"/>
        <c:lblOffset val="100"/>
        <c:noMultiLvlLbl val="0"/>
      </c:catAx>
      <c:valAx>
        <c:axId val="1320493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0493184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0" u="none" strike="noStrike" baseline="0" dirty="0"/>
              <a:t>Top 10 Most Active Investors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Transactions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082-404B-9049-3F2A6926CFAD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A082-404B-9049-3F2A6926CFAD}"/>
              </c:ext>
            </c:extLst>
          </c:dPt>
          <c:dPt>
            <c:idx val="2"/>
            <c:invertIfNegative val="0"/>
            <c:bubble3D val="0"/>
            <c:spPr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082-404B-9049-3F2A6926CFA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Saurabh Malhotra</c:v>
                </c:pt>
                <c:pt idx="1">
                  <c:v>Manish Sharma</c:v>
                </c:pt>
                <c:pt idx="2">
                  <c:v>Nisha Sharma</c:v>
                </c:pt>
                <c:pt idx="3">
                  <c:v>Arjun Sinha</c:v>
                </c:pt>
                <c:pt idx="4">
                  <c:v>Priya Mehta</c:v>
                </c:pt>
                <c:pt idx="5">
                  <c:v>Pooja Chatterjee</c:v>
                </c:pt>
                <c:pt idx="6">
                  <c:v>Divya Mehta</c:v>
                </c:pt>
                <c:pt idx="7">
                  <c:v>Karan Gupta</c:v>
                </c:pt>
                <c:pt idx="8">
                  <c:v>Rahul Gupta</c:v>
                </c:pt>
                <c:pt idx="9">
                  <c:v>Sneha Kapoor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51</c:v>
                </c:pt>
                <c:pt idx="1">
                  <c:v>49</c:v>
                </c:pt>
                <c:pt idx="2">
                  <c:v>48</c:v>
                </c:pt>
                <c:pt idx="3">
                  <c:v>45</c:v>
                </c:pt>
                <c:pt idx="4">
                  <c:v>44</c:v>
                </c:pt>
                <c:pt idx="5">
                  <c:v>43</c:v>
                </c:pt>
                <c:pt idx="6">
                  <c:v>43</c:v>
                </c:pt>
                <c:pt idx="7">
                  <c:v>42</c:v>
                </c:pt>
                <c:pt idx="8">
                  <c:v>42</c:v>
                </c:pt>
                <c:pt idx="9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82-404B-9049-3F2A6926CF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2"/>
        <c:axId val="1320281904"/>
        <c:axId val="1118317552"/>
      </c:barChart>
      <c:catAx>
        <c:axId val="132028190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8317552"/>
        <c:crosses val="autoZero"/>
        <c:auto val="1"/>
        <c:lblAlgn val="ctr"/>
        <c:lblOffset val="100"/>
        <c:noMultiLvlLbl val="0"/>
      </c:catAx>
      <c:valAx>
        <c:axId val="1118317552"/>
        <c:scaling>
          <c:orientation val="minMax"/>
        </c:scaling>
        <c:delete val="0"/>
        <c:axPos val="t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0281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0F3-4492-8081-1A4407A440AF}"/>
              </c:ext>
            </c:extLst>
          </c:dPt>
          <c:dPt>
            <c:idx val="1"/>
            <c:bubble3D val="0"/>
            <c:spPr>
              <a:solidFill>
                <a:schemeClr val="tx2">
                  <a:lumMod val="75000"/>
                  <a:lumOff val="2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70F3-4492-8081-1A4407A440AF}"/>
              </c:ext>
            </c:extLst>
          </c:dPt>
          <c:dPt>
            <c:idx val="2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0F3-4492-8081-1A4407A440AF}"/>
              </c:ext>
            </c:extLst>
          </c:dPt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High</c:v>
                </c:pt>
                <c:pt idx="2">
                  <c:v>Medium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858254059.00999999</c:v>
                </c:pt>
                <c:pt idx="1">
                  <c:v>856213333.78999996</c:v>
                </c:pt>
                <c:pt idx="2">
                  <c:v>820661435.69000006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F3-4492-8081-1A4407A440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E0780-ED23-683B-10ED-F0E3F42D8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77F4F3-399C-CF4D-4E5A-112698C749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D25B3-819F-EFC1-692A-395EB969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93B1-895A-4888-A35A-C50417D1734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08B77-3776-FF49-453C-4B53CB6B0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9857B-98A0-B48B-4144-270A30B51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B1301-75EA-4095-A56F-61249F06F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508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1507A-A973-A997-610F-144368F22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FA7E9-1FD8-5193-7947-5312CF925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B46CD-3453-A624-791B-443B06455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93B1-895A-4888-A35A-C50417D1734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234BB-57C9-861B-4AA5-DBEF389A9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CD15B-E0A4-3E1D-908B-065E1F67A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B1301-75EA-4095-A56F-61249F06F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492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63502-6D02-93CD-6429-D58BAEE66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EE273-494C-7228-A743-67226CC39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E573E-7B5D-05A2-E103-46F148310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93B1-895A-4888-A35A-C50417D1734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36C39-C80B-7E17-039B-AE8E7E4E7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21A7A-14D4-9313-B12E-29A7C91BC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B1301-75EA-4095-A56F-61249F06F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287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D36C6-C721-C034-7FBD-AA37C2986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004EB-B23D-E59C-DB91-22AE280852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F60444-72D6-827B-4EDE-A54BD3460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0BF597-CDDB-9A0D-7A8B-29CFC0A9F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93B1-895A-4888-A35A-C50417D1734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25682-E09A-9A7A-2ADA-FD4FC4F83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A836EA-4CA3-E6DF-8458-8B2DE4D3F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B1301-75EA-4095-A56F-61249F06F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303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BA7D5-3101-60F1-4197-1DF75F1F6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C8B8F-A991-9179-10DF-608A9BB15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4FD98C-13E0-89BA-4953-536D38E36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4FAD6D-E852-7EB9-3A61-311E4736D6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AC20AF-8E1A-03DB-5D56-74B6803A06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749E81-03A3-B650-002C-56655D15A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93B1-895A-4888-A35A-C50417D1734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B5236B-E09D-5853-5227-061E92513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47490F-EE4A-C959-6254-97242E364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B1301-75EA-4095-A56F-61249F06F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414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5029A-0B84-067A-8EC4-158D8FBCA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193C54-6D43-EA98-F132-5FF3D0A8B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93B1-895A-4888-A35A-C50417D1734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039810-B77F-11ED-CFE5-E13880AF1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40DB78-F268-46B6-7728-A2DE3F9B1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B1301-75EA-4095-A56F-61249F06F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59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DD0188-337B-A68F-558F-1AD7F8314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93B1-895A-4888-A35A-C50417D1734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5B8E2B-EDE0-116C-F194-F461A7110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41E40-0A9B-BF69-9468-16CE54A4C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B1301-75EA-4095-A56F-61249F06F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15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49AD5-3488-3F8B-18D8-9AA369741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8F3CE-6303-0470-F404-DFB36FC63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2472C-DC7C-1E41-F5EE-2112A8FB47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1D97AC-E521-8E04-8FD7-1C1162F4B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93B1-895A-4888-A35A-C50417D1734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C61117-1EA0-ECD7-63C4-AB9BF00A3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1E1B9-500D-5D83-9F2D-381876057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B1301-75EA-4095-A56F-61249F06F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275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1EF19-3A19-ED7D-88C6-F2C489217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FC49CD-ED2A-AD04-75F9-2DE5473542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812947-8440-4195-BCBD-D918F4FCD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AE4D6-621B-FB0E-6513-D6F92DE79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93B1-895A-4888-A35A-C50417D1734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C3E4E-CB26-026A-677A-DEC185095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8D1F17-C8B9-87D6-9852-3A5C3CA4C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B1301-75EA-4095-A56F-61249F06F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618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958EE-8557-1A1D-7922-B2BDC94F3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D4A0EA-5D25-7C55-8FB3-095B0FD34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B1A9A-954F-ACE6-44DD-80AD43613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93B1-895A-4888-A35A-C50417D1734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FF34D-7FD1-1567-36C1-37E6C4F07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75564-E4F8-C964-C479-A7E897FD6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B1301-75EA-4095-A56F-61249F06F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698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20D68D-94E5-710A-8ACC-77D7272B7E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6A4A85-9733-3D30-3248-085090A569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81A5D-7391-CE51-68BC-476AAF9BA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93B1-895A-4888-A35A-C50417D1734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91EED-62CF-0FF2-1FB7-782411A31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E40AD-E53F-F694-4914-42C1E7C2A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B1301-75EA-4095-A56F-61249F06F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954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5B228A-A350-B634-03A8-F0EECC362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CEE42-5227-401B-1D4D-54783958F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25F50-7AEA-276B-F391-AAB05CF25C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CA93B1-895A-4888-A35A-C50417D1734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16139-4FD4-B1E9-D2F3-33E8877A7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9DDCB-5DA3-C3AE-A594-E9187161B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8B1301-75EA-4095-A56F-61249F06F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718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s and charts">
            <a:extLst>
              <a:ext uri="{FF2B5EF4-FFF2-40B4-BE49-F238E27FC236}">
                <a16:creationId xmlns:a16="http://schemas.microsoft.com/office/drawing/2014/main" id="{5F9E709E-A621-69C6-D545-AB8A7A7C8E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86460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5F158F8-2F49-904C-70D1-5E037C898967}"/>
              </a:ext>
            </a:extLst>
          </p:cNvPr>
          <p:cNvSpPr/>
          <p:nvPr/>
        </p:nvSpPr>
        <p:spPr>
          <a:xfrm>
            <a:off x="0" y="4864608"/>
            <a:ext cx="12192000" cy="199339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2EE4A3-6D5C-365F-FD93-4B7C89422B9C}"/>
              </a:ext>
            </a:extLst>
          </p:cNvPr>
          <p:cNvSpPr txBox="1"/>
          <p:nvPr/>
        </p:nvSpPr>
        <p:spPr>
          <a:xfrm>
            <a:off x="365760" y="5353472"/>
            <a:ext cx="105704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INVESTMENT ANALYTICS</a:t>
            </a:r>
          </a:p>
          <a:p>
            <a:r>
              <a:rPr lang="en-IN" sz="2000" dirty="0">
                <a:solidFill>
                  <a:schemeClr val="bg1"/>
                </a:solidFill>
              </a:rPr>
              <a:t>CASE STUDY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BECB1C-0FBB-59B4-08BA-11EEBFA2CC40}"/>
              </a:ext>
            </a:extLst>
          </p:cNvPr>
          <p:cNvSpPr txBox="1"/>
          <p:nvPr/>
        </p:nvSpPr>
        <p:spPr>
          <a:xfrm>
            <a:off x="365760" y="5953637"/>
            <a:ext cx="85679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A SQL-Based Portfolio &amp; Transaction Analysis Project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55D8BD-3CF4-BBB2-B161-4963D9B4424E}"/>
              </a:ext>
            </a:extLst>
          </p:cNvPr>
          <p:cNvSpPr txBox="1"/>
          <p:nvPr/>
        </p:nvSpPr>
        <p:spPr>
          <a:xfrm>
            <a:off x="8314944" y="5353472"/>
            <a:ext cx="42428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Pramitava Das</a:t>
            </a:r>
          </a:p>
          <a:p>
            <a:r>
              <a:rPr lang="en-US" sz="1600" dirty="0">
                <a:solidFill>
                  <a:schemeClr val="bg1"/>
                </a:solidFill>
              </a:rPr>
              <a:t>Data Analytics Project | 2026</a:t>
            </a:r>
          </a:p>
          <a:p>
            <a:r>
              <a:rPr lang="en-US" sz="1600" dirty="0">
                <a:solidFill>
                  <a:schemeClr val="bg1"/>
                </a:solidFill>
              </a:rPr>
              <a:t>Tools Used: MySQL Workbench</a:t>
            </a:r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815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E89C3F-46FA-3C4E-691E-9098DE9BAB5A}"/>
              </a:ext>
            </a:extLst>
          </p:cNvPr>
          <p:cNvSpPr txBox="1"/>
          <p:nvPr/>
        </p:nvSpPr>
        <p:spPr>
          <a:xfrm>
            <a:off x="457200" y="493776"/>
            <a:ext cx="6976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Introduction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5DB921-9EF9-BA17-2CC3-4F0AFC382008}"/>
              </a:ext>
            </a:extLst>
          </p:cNvPr>
          <p:cNvCxnSpPr>
            <a:cxnSpLocks/>
          </p:cNvCxnSpPr>
          <p:nvPr/>
        </p:nvCxnSpPr>
        <p:spPr>
          <a:xfrm>
            <a:off x="795528" y="1207008"/>
            <a:ext cx="0" cy="41148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BE751D7-6E28-EB76-B3ED-8361954D7F2E}"/>
              </a:ext>
            </a:extLst>
          </p:cNvPr>
          <p:cNvSpPr txBox="1"/>
          <p:nvPr/>
        </p:nvSpPr>
        <p:spPr>
          <a:xfrm>
            <a:off x="868680" y="1298448"/>
            <a:ext cx="1034185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financial services industry generates large volumes of transactional data across multiple client accounts and investment activities.</a:t>
            </a:r>
          </a:p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 client behavior, transaction trends, and risk segmentation is essential for optimizing portfolio performance and improving decision-making.</a:t>
            </a:r>
          </a:p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simulates a structured investment analytics environment using SQL to derive actionable business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3421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88FE4D-CFBF-DCC5-9DBF-C2C4AA567513}"/>
              </a:ext>
            </a:extLst>
          </p:cNvPr>
          <p:cNvSpPr txBox="1"/>
          <p:nvPr/>
        </p:nvSpPr>
        <p:spPr>
          <a:xfrm>
            <a:off x="552450" y="560677"/>
            <a:ext cx="6976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E503639-B2D3-B6AA-972B-08312E9FBD0B}"/>
              </a:ext>
            </a:extLst>
          </p:cNvPr>
          <p:cNvCxnSpPr>
            <a:cxnSpLocks/>
          </p:cNvCxnSpPr>
          <p:nvPr/>
        </p:nvCxnSpPr>
        <p:spPr>
          <a:xfrm>
            <a:off x="795528" y="1207008"/>
            <a:ext cx="0" cy="41148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82B04E5-71C9-9F77-FEFF-44013B949CC6}"/>
              </a:ext>
            </a:extLst>
          </p:cNvPr>
          <p:cNvSpPr txBox="1"/>
          <p:nvPr/>
        </p:nvSpPr>
        <p:spPr>
          <a:xfrm>
            <a:off x="959358" y="1304163"/>
            <a:ext cx="95249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Investment firms manage thousands of client transactions across multiple accounts.</a:t>
            </a:r>
          </a:p>
          <a:p>
            <a:r>
              <a:rPr lang="en-US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without structured analysis, it becomes difficult to:</a:t>
            </a:r>
          </a:p>
          <a:p>
            <a:r>
              <a:rPr lang="en-US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Identify high-value clients contributing most to portfolio value</a:t>
            </a:r>
            <a:br>
              <a:rPr lang="en-US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Monitor transaction behavior and investment trends</a:t>
            </a:r>
            <a:br>
              <a:rPr lang="en-US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Analyze risk-based client segmentation</a:t>
            </a:r>
            <a:br>
              <a:rPr lang="en-US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Detect portfolio outflow or inflow patterns</a:t>
            </a:r>
          </a:p>
          <a:p>
            <a:r>
              <a:rPr lang="en-US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a result, decision-making may rely on assumptions rather than data-driven insights.</a:t>
            </a:r>
          </a:p>
          <a:p>
            <a:r>
              <a:rPr lang="en-US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addresses these challenges through structured SQL-based portfolio analysis.</a:t>
            </a:r>
          </a:p>
        </p:txBody>
      </p:sp>
    </p:spTree>
    <p:extLst>
      <p:ext uri="{BB962C8B-B14F-4D97-AF65-F5344CB8AC3E}">
        <p14:creationId xmlns:p14="http://schemas.microsoft.com/office/powerpoint/2010/main" val="3368623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65D332-9FD8-DF03-53C8-435273910A0F}"/>
              </a:ext>
            </a:extLst>
          </p:cNvPr>
          <p:cNvSpPr txBox="1"/>
          <p:nvPr/>
        </p:nvSpPr>
        <p:spPr>
          <a:xfrm>
            <a:off x="548640" y="560677"/>
            <a:ext cx="6976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Objectives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A75BB8C-DC4A-8388-93CB-C02AF1A07806}"/>
              </a:ext>
            </a:extLst>
          </p:cNvPr>
          <p:cNvCxnSpPr>
            <a:cxnSpLocks/>
          </p:cNvCxnSpPr>
          <p:nvPr/>
        </p:nvCxnSpPr>
        <p:spPr>
          <a:xfrm>
            <a:off x="795528" y="1207008"/>
            <a:ext cx="0" cy="368503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A020CB1-031E-B13F-690B-DB1600BF9E6F}"/>
              </a:ext>
            </a:extLst>
          </p:cNvPr>
          <p:cNvSpPr txBox="1"/>
          <p:nvPr/>
        </p:nvSpPr>
        <p:spPr>
          <a:xfrm>
            <a:off x="941832" y="1289304"/>
            <a:ext cx="94548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primary objectives of this project are: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Design a structured relational database with 3 interconnected tables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Ensure data integrity using primary and foreign key relationships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Perform portfolio-level and client-level transaction analysis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Identify high-value clients and portfolio contribution patterns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Analyze investment inflow and outflow trends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Generate business insights using SQL-based aggregation techniques</a:t>
            </a:r>
          </a:p>
          <a:p>
            <a:endParaRPr lang="en-IN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393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2E3177-5563-ABB0-4107-E4601E1DC173}"/>
              </a:ext>
            </a:extLst>
          </p:cNvPr>
          <p:cNvSpPr txBox="1"/>
          <p:nvPr/>
        </p:nvSpPr>
        <p:spPr>
          <a:xfrm>
            <a:off x="548640" y="560677"/>
            <a:ext cx="6976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Overview</a:t>
            </a:r>
            <a:endParaRPr lang="en-IN" sz="3600" b="1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98E8E10-55DA-BF4F-1020-5D9D58BB6A17}"/>
              </a:ext>
            </a:extLst>
          </p:cNvPr>
          <p:cNvCxnSpPr>
            <a:cxnSpLocks/>
          </p:cNvCxnSpPr>
          <p:nvPr/>
        </p:nvCxnSpPr>
        <p:spPr>
          <a:xfrm>
            <a:off x="795528" y="1207008"/>
            <a:ext cx="0" cy="432511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2ED1A71-0CBD-AC5C-2EAD-83BB3716DEC5}"/>
              </a:ext>
            </a:extLst>
          </p:cNvPr>
          <p:cNvSpPr txBox="1"/>
          <p:nvPr/>
        </p:nvSpPr>
        <p:spPr>
          <a:xfrm>
            <a:off x="935739" y="1207008"/>
            <a:ext cx="1026870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Database Structure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The project database consists of three interconnected tables: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1. Clients (Dimension Table)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• 1000 unique clients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• Contains demographic and risk profile information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2. Accounts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• 2000+ accounts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• Linked to clients using client_id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• Includes account type and status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3. Transactions (Fact Table)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• 20,000 transaction records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• Includes Buy and Sell activities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• Linked to accounts using account_id</a:t>
            </a:r>
          </a:p>
          <a:p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454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79A888-680E-5B5E-0F58-F28041561250}"/>
              </a:ext>
            </a:extLst>
          </p:cNvPr>
          <p:cNvSpPr txBox="1"/>
          <p:nvPr/>
        </p:nvSpPr>
        <p:spPr>
          <a:xfrm>
            <a:off x="813816" y="911551"/>
            <a:ext cx="6976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Model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30577A-75F3-CC42-E0D7-DB3860B3D625}"/>
              </a:ext>
            </a:extLst>
          </p:cNvPr>
          <p:cNvSpPr/>
          <p:nvPr/>
        </p:nvSpPr>
        <p:spPr>
          <a:xfrm>
            <a:off x="905256" y="1836587"/>
            <a:ext cx="2889504" cy="194767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EB5D32-C353-240C-45BF-2B8D93672D14}"/>
              </a:ext>
            </a:extLst>
          </p:cNvPr>
          <p:cNvSpPr txBox="1"/>
          <p:nvPr/>
        </p:nvSpPr>
        <p:spPr>
          <a:xfrm>
            <a:off x="1101852" y="1929384"/>
            <a:ext cx="2496312" cy="203132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Clients</a:t>
            </a:r>
          </a:p>
          <a:p>
            <a:r>
              <a:rPr lang="en-US" dirty="0"/>
              <a:t>client_id (PK)</a:t>
            </a:r>
            <a:br>
              <a:rPr lang="en-US" dirty="0"/>
            </a:br>
            <a:r>
              <a:rPr lang="en-US" dirty="0"/>
              <a:t>client_name</a:t>
            </a:r>
            <a:br>
              <a:rPr lang="en-US" dirty="0"/>
            </a:br>
            <a:r>
              <a:rPr lang="en-US" dirty="0"/>
              <a:t>risk_profile</a:t>
            </a:r>
            <a:br>
              <a:rPr lang="en-US" dirty="0"/>
            </a:br>
            <a:r>
              <a:rPr lang="en-US" dirty="0"/>
              <a:t>city</a:t>
            </a:r>
            <a:br>
              <a:rPr lang="en-US" dirty="0"/>
            </a:br>
            <a:r>
              <a:rPr lang="en-US" dirty="0"/>
              <a:t>onboarding_date</a:t>
            </a:r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3D07E2-E3C3-6763-5A51-3100BE698A87}"/>
              </a:ext>
            </a:extLst>
          </p:cNvPr>
          <p:cNvSpPr/>
          <p:nvPr/>
        </p:nvSpPr>
        <p:spPr>
          <a:xfrm>
            <a:off x="4636008" y="1836587"/>
            <a:ext cx="2889504" cy="19476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D54B4E-2FBC-FF6B-FFFE-2A79390BAE59}"/>
              </a:ext>
            </a:extLst>
          </p:cNvPr>
          <p:cNvSpPr/>
          <p:nvPr/>
        </p:nvSpPr>
        <p:spPr>
          <a:xfrm>
            <a:off x="8366760" y="1836587"/>
            <a:ext cx="2889504" cy="19476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67D999-CA39-47D5-A196-C1EF3E366206}"/>
              </a:ext>
            </a:extLst>
          </p:cNvPr>
          <p:cNvSpPr txBox="1"/>
          <p:nvPr/>
        </p:nvSpPr>
        <p:spPr>
          <a:xfrm>
            <a:off x="4828032" y="1937171"/>
            <a:ext cx="2494788" cy="17543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Accounts</a:t>
            </a:r>
          </a:p>
          <a:p>
            <a:r>
              <a:rPr lang="en-US" dirty="0"/>
              <a:t>account_id (PK)</a:t>
            </a:r>
            <a:br>
              <a:rPr lang="en-US" dirty="0"/>
            </a:br>
            <a:r>
              <a:rPr lang="en-US" dirty="0"/>
              <a:t>client_id (FK)</a:t>
            </a:r>
            <a:br>
              <a:rPr lang="en-US" dirty="0"/>
            </a:br>
            <a:r>
              <a:rPr lang="en-US" dirty="0"/>
              <a:t>account_type</a:t>
            </a:r>
            <a:br>
              <a:rPr lang="en-US" dirty="0"/>
            </a:br>
            <a:r>
              <a:rPr lang="en-US" dirty="0"/>
              <a:t>account_status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CA89D2-F1E4-997B-CBEA-80A626C02773}"/>
              </a:ext>
            </a:extLst>
          </p:cNvPr>
          <p:cNvSpPr txBox="1"/>
          <p:nvPr/>
        </p:nvSpPr>
        <p:spPr>
          <a:xfrm>
            <a:off x="8595360" y="1937171"/>
            <a:ext cx="2494788" cy="203132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b="1" dirty="0"/>
              <a:t>Transactions</a:t>
            </a:r>
          </a:p>
          <a:p>
            <a:r>
              <a:rPr lang="en-IN" dirty="0"/>
              <a:t>transaction_id (PK)</a:t>
            </a:r>
            <a:br>
              <a:rPr lang="en-IN" dirty="0"/>
            </a:br>
            <a:r>
              <a:rPr lang="en-IN" dirty="0"/>
              <a:t>account_id (FK)</a:t>
            </a:r>
            <a:br>
              <a:rPr lang="en-IN" dirty="0"/>
            </a:br>
            <a:r>
              <a:rPr lang="en-IN" dirty="0"/>
              <a:t>transaction_date</a:t>
            </a:r>
            <a:br>
              <a:rPr lang="en-IN" dirty="0"/>
            </a:br>
            <a:r>
              <a:rPr lang="en-IN" dirty="0"/>
              <a:t>transaction_type</a:t>
            </a:r>
            <a:br>
              <a:rPr lang="en-IN" dirty="0"/>
            </a:br>
            <a:r>
              <a:rPr lang="en-IN" dirty="0"/>
              <a:t>amount</a:t>
            </a:r>
          </a:p>
          <a:p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8870E1-5C02-A6E9-D83E-11F452D6F8D0}"/>
              </a:ext>
            </a:extLst>
          </p:cNvPr>
          <p:cNvCxnSpPr/>
          <p:nvPr/>
        </p:nvCxnSpPr>
        <p:spPr>
          <a:xfrm>
            <a:off x="3931920" y="2810423"/>
            <a:ext cx="4846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D2F11F0-BB1F-A83B-4531-A14579753D80}"/>
              </a:ext>
            </a:extLst>
          </p:cNvPr>
          <p:cNvCxnSpPr/>
          <p:nvPr/>
        </p:nvCxnSpPr>
        <p:spPr>
          <a:xfrm>
            <a:off x="7790688" y="2810423"/>
            <a:ext cx="3931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890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15FCB0-5F6F-8E9D-5115-7EABC7B5C14F}"/>
              </a:ext>
            </a:extLst>
          </p:cNvPr>
          <p:cNvSpPr txBox="1"/>
          <p:nvPr/>
        </p:nvSpPr>
        <p:spPr>
          <a:xfrm>
            <a:off x="1005840" y="557784"/>
            <a:ext cx="6382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</a:rPr>
              <a:t>Portfolio Performance Overview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170DB1-4FB4-975C-A26E-BE6904FE48D4}"/>
              </a:ext>
            </a:extLst>
          </p:cNvPr>
          <p:cNvCxnSpPr/>
          <p:nvPr/>
        </p:nvCxnSpPr>
        <p:spPr>
          <a:xfrm>
            <a:off x="1209871" y="1161934"/>
            <a:ext cx="0" cy="49103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EA8A58C-C6C8-D344-3F97-438CA1B45829}"/>
              </a:ext>
            </a:extLst>
          </p:cNvPr>
          <p:cNvSpPr/>
          <p:nvPr/>
        </p:nvSpPr>
        <p:spPr>
          <a:xfrm>
            <a:off x="1700784" y="1307592"/>
            <a:ext cx="3236976" cy="11704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Total Net AUM</a:t>
            </a:r>
          </a:p>
          <a:p>
            <a:pPr algn="ctr"/>
            <a:r>
              <a:rPr lang="fr-FR" dirty="0"/>
              <a:t>-1.98 M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5701469-6D47-8820-EE0F-02CE550A1934}"/>
              </a:ext>
            </a:extLst>
          </p:cNvPr>
          <p:cNvSpPr/>
          <p:nvPr/>
        </p:nvSpPr>
        <p:spPr>
          <a:xfrm>
            <a:off x="6416040" y="1307592"/>
            <a:ext cx="3236976" cy="11704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Total Clients</a:t>
            </a:r>
          </a:p>
          <a:p>
            <a:pPr algn="ctr"/>
            <a:r>
              <a:rPr lang="fr-FR" dirty="0"/>
              <a:t>1000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C1AB325D-8028-BA9B-5EEE-27B865FF41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6445301"/>
              </p:ext>
            </p:extLst>
          </p:nvPr>
        </p:nvGraphicFramePr>
        <p:xfrm>
          <a:off x="1785112" y="2596896"/>
          <a:ext cx="7130288" cy="3803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11340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B99F12-4027-D87C-1AB9-BF1E0034B99A}"/>
              </a:ext>
            </a:extLst>
          </p:cNvPr>
          <p:cNvSpPr txBox="1"/>
          <p:nvPr/>
        </p:nvSpPr>
        <p:spPr>
          <a:xfrm>
            <a:off x="731520" y="734413"/>
            <a:ext cx="10656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Buy vs Sell Transaction Comparison</a:t>
            </a:r>
            <a:endParaRPr lang="en-IN" sz="3600" b="1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CBF7EFF-F44A-2955-4C0C-D4B5966BC25A}"/>
              </a:ext>
            </a:extLst>
          </p:cNvPr>
          <p:cNvCxnSpPr/>
          <p:nvPr/>
        </p:nvCxnSpPr>
        <p:spPr>
          <a:xfrm>
            <a:off x="950976" y="1380744"/>
            <a:ext cx="0" cy="4279392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D161266-3BC3-BBAF-A294-347E94505C8B}"/>
              </a:ext>
            </a:extLst>
          </p:cNvPr>
          <p:cNvSpPr txBox="1"/>
          <p:nvPr/>
        </p:nvSpPr>
        <p:spPr>
          <a:xfrm>
            <a:off x="1101855" y="1408176"/>
            <a:ext cx="9988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How does total investment compare with total withdrawals, and what does it indicate about portfolio inflow/outflow?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CD2817D-95C2-12BF-0313-35B06A437C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3796573"/>
              </p:ext>
            </p:extLst>
          </p:nvPr>
        </p:nvGraphicFramePr>
        <p:xfrm>
          <a:off x="1439488" y="2054507"/>
          <a:ext cx="6237592" cy="3300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6E56D6B-DB81-7BD1-FAD4-85DC0F444D79}"/>
              </a:ext>
            </a:extLst>
          </p:cNvPr>
          <p:cNvSpPr txBox="1"/>
          <p:nvPr/>
        </p:nvSpPr>
        <p:spPr>
          <a:xfrm>
            <a:off x="7462982" y="2521527"/>
            <a:ext cx="328953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Key Insights :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Sell transactions marginally exceed buy transactions, resulting in a net portfolio outflow of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~1.98M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000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90435F-09E1-36D8-36FB-BF37A4E248C0}"/>
              </a:ext>
            </a:extLst>
          </p:cNvPr>
          <p:cNvSpPr txBox="1"/>
          <p:nvPr/>
        </p:nvSpPr>
        <p:spPr>
          <a:xfrm>
            <a:off x="831273" y="609600"/>
            <a:ext cx="9005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Monthly Buy vs Sell Trend</a:t>
            </a:r>
            <a:endParaRPr lang="en-IN" sz="3600" b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CBCDC9-9A92-3ED9-1AB8-B849AF83D887}"/>
              </a:ext>
            </a:extLst>
          </p:cNvPr>
          <p:cNvCxnSpPr/>
          <p:nvPr/>
        </p:nvCxnSpPr>
        <p:spPr>
          <a:xfrm>
            <a:off x="1089891" y="1255931"/>
            <a:ext cx="0" cy="404552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D983F70-2B7C-86AD-6DC7-E3C6416A24D8}"/>
              </a:ext>
            </a:extLst>
          </p:cNvPr>
          <p:cNvSpPr txBox="1"/>
          <p:nvPr/>
        </p:nvSpPr>
        <p:spPr>
          <a:xfrm>
            <a:off x="1265383" y="1163736"/>
            <a:ext cx="8571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Buy and Sell transaction volumes vary month-over-month</a:t>
            </a:r>
            <a:endParaRPr lang="en-IN" dirty="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6BF2D193-0848-A39B-5E9F-E39325BA07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9485786"/>
              </p:ext>
            </p:extLst>
          </p:nvPr>
        </p:nvGraphicFramePr>
        <p:xfrm>
          <a:off x="2041235" y="1810067"/>
          <a:ext cx="7536871" cy="36024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65172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03E2A6-D2BE-D539-CD4F-D53F7D00248B}"/>
              </a:ext>
            </a:extLst>
          </p:cNvPr>
          <p:cNvSpPr txBox="1"/>
          <p:nvPr/>
        </p:nvSpPr>
        <p:spPr>
          <a:xfrm>
            <a:off x="972034" y="625753"/>
            <a:ext cx="107211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Top Investor Contributes Over 5M in AUM, Highlighting Concentration Among High-Value Clients</a:t>
            </a:r>
            <a:endParaRPr lang="en-IN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E9C6D74-7627-BCAC-E6AB-3833D041CBFC}"/>
              </a:ext>
            </a:extLst>
          </p:cNvPr>
          <p:cNvCxnSpPr/>
          <p:nvPr/>
        </p:nvCxnSpPr>
        <p:spPr>
          <a:xfrm>
            <a:off x="1163227" y="1837498"/>
            <a:ext cx="0" cy="41268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C93FC7A3-43BD-BC98-0CE2-A888F0FFCE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3422697"/>
              </p:ext>
            </p:extLst>
          </p:nvPr>
        </p:nvGraphicFramePr>
        <p:xfrm>
          <a:off x="1781787" y="1896935"/>
          <a:ext cx="8128000" cy="40079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89605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E86B6D-CBC0-A9D8-B8CE-89F700A05B5E}"/>
              </a:ext>
            </a:extLst>
          </p:cNvPr>
          <p:cNvSpPr txBox="1"/>
          <p:nvPr/>
        </p:nvSpPr>
        <p:spPr>
          <a:xfrm>
            <a:off x="988291" y="471054"/>
            <a:ext cx="9827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Portfolio AUM Trend Over Time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8A17736-8112-21C1-EA38-3E316CB77A4E}"/>
              </a:ext>
            </a:extLst>
          </p:cNvPr>
          <p:cNvCxnSpPr/>
          <p:nvPr/>
        </p:nvCxnSpPr>
        <p:spPr>
          <a:xfrm>
            <a:off x="1136073" y="1055829"/>
            <a:ext cx="0" cy="404552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461F2E5-690C-AD45-AEB7-4530F57FFD70}"/>
              </a:ext>
            </a:extLst>
          </p:cNvPr>
          <p:cNvSpPr txBox="1"/>
          <p:nvPr/>
        </p:nvSpPr>
        <p:spPr>
          <a:xfrm>
            <a:off x="1256147" y="1055829"/>
            <a:ext cx="9744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This analysis tracks </a:t>
            </a:r>
            <a:r>
              <a:rPr lang="en-US" sz="1600" b="1" dirty="0"/>
              <a:t>monthly net investment activity</a:t>
            </a:r>
            <a:r>
              <a:rPr lang="en-US" sz="1600" dirty="0"/>
              <a:t> and calculates the </a:t>
            </a:r>
            <a:r>
              <a:rPr lang="en-US" sz="1600" b="1" dirty="0"/>
              <a:t>cumulative portfolio value</a:t>
            </a:r>
            <a:r>
              <a:rPr lang="en-US" sz="1600" dirty="0"/>
              <a:t> based on buy and sell transactions.</a:t>
            </a:r>
            <a:endParaRPr lang="en-IN" sz="1600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01309885-C250-9230-BA1D-48E7008601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6559960"/>
              </p:ext>
            </p:extLst>
          </p:nvPr>
        </p:nvGraphicFramePr>
        <p:xfrm>
          <a:off x="1385453" y="1754909"/>
          <a:ext cx="10030687" cy="3346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46329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F26861-C430-D7D8-5B85-FD741BC71C74}"/>
              </a:ext>
            </a:extLst>
          </p:cNvPr>
          <p:cNvSpPr txBox="1"/>
          <p:nvPr/>
        </p:nvSpPr>
        <p:spPr>
          <a:xfrm>
            <a:off x="665019" y="621252"/>
            <a:ext cx="9596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Top Clients by Trading Activity</a:t>
            </a:r>
            <a:endParaRPr lang="en-IN" sz="36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145F674-FB1A-4FDE-EE85-0BB29465698D}"/>
              </a:ext>
            </a:extLst>
          </p:cNvPr>
          <p:cNvCxnSpPr/>
          <p:nvPr/>
        </p:nvCxnSpPr>
        <p:spPr>
          <a:xfrm>
            <a:off x="932872" y="1267583"/>
            <a:ext cx="0" cy="43228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B5507133-FDFB-132A-E1D1-733A09CBC2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5711556"/>
              </p:ext>
            </p:extLst>
          </p:nvPr>
        </p:nvGraphicFramePr>
        <p:xfrm>
          <a:off x="1166094" y="1357530"/>
          <a:ext cx="8280397" cy="41864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7290304-FD8D-574C-3777-B3B2BD7417C3}"/>
              </a:ext>
            </a:extLst>
          </p:cNvPr>
          <p:cNvSpPr txBox="1"/>
          <p:nvPr/>
        </p:nvSpPr>
        <p:spPr>
          <a:xfrm>
            <a:off x="9178637" y="711199"/>
            <a:ext cx="22721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• A small group of investors generates the </a:t>
            </a:r>
            <a:r>
              <a:rPr lang="en-US" sz="1200" b="1" dirty="0"/>
              <a:t>highest trading activity</a:t>
            </a:r>
            <a:br>
              <a:rPr lang="en-US" sz="1200" dirty="0"/>
            </a:br>
            <a:r>
              <a:rPr lang="en-US" sz="1200" dirty="0"/>
              <a:t>• The top traders execute </a:t>
            </a:r>
            <a:r>
              <a:rPr lang="en-US" sz="1200" b="1" dirty="0"/>
              <a:t>10+ transactions each</a:t>
            </a:r>
            <a:br>
              <a:rPr lang="en-US" sz="1200" dirty="0"/>
            </a:br>
            <a:r>
              <a:rPr lang="en-US" sz="1200" dirty="0"/>
              <a:t>• These clients represent </a:t>
            </a:r>
            <a:r>
              <a:rPr lang="en-US" sz="1200" b="1" dirty="0"/>
              <a:t>high engagement with the platform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876173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4651F1-1550-8BEC-45E3-BE9F8BB5C062}"/>
              </a:ext>
            </a:extLst>
          </p:cNvPr>
          <p:cNvSpPr txBox="1"/>
          <p:nvPr/>
        </p:nvSpPr>
        <p:spPr>
          <a:xfrm>
            <a:off x="1071418" y="544945"/>
            <a:ext cx="104186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Portfolio Distribution by Risk Profile</a:t>
            </a:r>
            <a:endParaRPr lang="en-IN" sz="3200" b="1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EE82F50-020B-C74F-14EE-E3DF2CF7711C}"/>
              </a:ext>
            </a:extLst>
          </p:cNvPr>
          <p:cNvCxnSpPr/>
          <p:nvPr/>
        </p:nvCxnSpPr>
        <p:spPr>
          <a:xfrm>
            <a:off x="1293090" y="1129720"/>
            <a:ext cx="0" cy="43228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B6F85CB-F656-F559-578C-1617AD74B6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2367663"/>
              </p:ext>
            </p:extLst>
          </p:nvPr>
        </p:nvGraphicFramePr>
        <p:xfrm>
          <a:off x="1514763" y="1293091"/>
          <a:ext cx="6031345" cy="37869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91C6832-2564-96DB-D1CD-794AD9631D1C}"/>
              </a:ext>
            </a:extLst>
          </p:cNvPr>
          <p:cNvSpPr txBox="1"/>
          <p:nvPr/>
        </p:nvSpPr>
        <p:spPr>
          <a:xfrm>
            <a:off x="6936510" y="1459345"/>
            <a:ext cx="374072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Key Insight</a:t>
            </a:r>
            <a:endParaRPr lang="en-US" sz="1400" dirty="0"/>
          </a:p>
          <a:p>
            <a:r>
              <a:rPr lang="en-US" sz="1400" dirty="0"/>
              <a:t>• Portfolio allocation is </a:t>
            </a:r>
            <a:r>
              <a:rPr lang="en-US" sz="1400" b="1" dirty="0"/>
              <a:t>balanced across risk profiles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/>
              <a:t>• </a:t>
            </a:r>
            <a:r>
              <a:rPr lang="en-US" sz="1400" b="1" dirty="0"/>
              <a:t>Medium-risk investors contribute the largest share (~34%)</a:t>
            </a:r>
            <a:r>
              <a:rPr lang="en-US" sz="1400" dirty="0"/>
              <a:t> of portfolio value.</a:t>
            </a:r>
            <a:br>
              <a:rPr lang="en-US" sz="1400" dirty="0"/>
            </a:br>
            <a:r>
              <a:rPr lang="en-US" sz="1400" dirty="0"/>
              <a:t>• </a:t>
            </a:r>
            <a:r>
              <a:rPr lang="en-US" sz="1400" b="1" dirty="0"/>
              <a:t>Low-risk investments are almost equal (~34%)</a:t>
            </a:r>
            <a:r>
              <a:rPr lang="en-US" sz="1400" dirty="0"/>
              <a:t>, indicating strong conservative participation.</a:t>
            </a:r>
            <a:br>
              <a:rPr lang="en-US" sz="1400" dirty="0"/>
            </a:br>
            <a:r>
              <a:rPr lang="en-US" sz="1400" dirty="0"/>
              <a:t>• </a:t>
            </a:r>
            <a:r>
              <a:rPr lang="en-US" sz="1400" b="1" dirty="0"/>
              <a:t>High-risk exposure (~32%) is slightly lower</a:t>
            </a:r>
            <a:r>
              <a:rPr lang="en-US" sz="1400" dirty="0"/>
              <a:t>, suggesting moderate risk appetite.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036787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</TotalTime>
  <Words>613</Words>
  <Application>Microsoft Office PowerPoint</Application>
  <PresentationFormat>Widescreen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Pramitava Das [MBA - 2023]</dc:creator>
  <cp:lastModifiedBy>Pramitava Das [MBA - 2023]</cp:lastModifiedBy>
  <cp:revision>3</cp:revision>
  <dcterms:created xsi:type="dcterms:W3CDTF">2026-02-27T10:59:57Z</dcterms:created>
  <dcterms:modified xsi:type="dcterms:W3CDTF">2026-03-06T19:48:38Z</dcterms:modified>
</cp:coreProperties>
</file>